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14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375F"/>
                </a:solidFill>
                <a:latin typeface="Aptos Display"/>
              </a:rPr>
              <a:t>Housing Price Prediction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323"/>
                </a:solidFill>
                <a:latin typeface="Aptos"/>
              </a:defRPr>
            </a:pPr>
            <a:r>
              <a:t>Project Brief for Responsible AI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32323"/>
                </a:solidFill>
                <a:latin typeface="Aptos"/>
              </a:defRPr>
            </a:pPr>
            <a:r>
              <a:t>Version 0.2 | Development stage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331720"/>
          <a:ext cx="749807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t>Division or 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Economic Analysis 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t>Project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Eljo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t>Primary 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Jordan Lee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t>Reviewer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Moe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t>Intended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Internal Statistics Canada analysts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375F"/>
                </a:solidFill>
                <a:latin typeface="Aptos Display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825585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32323"/>
                </a:solidFill>
                <a:latin typeface="Aptos"/>
              </a:defRPr>
            </a:pPr>
            <a:r>
              <a:rPr dirty="0"/>
              <a:t>This project develops supervised machine learning models to </a:t>
            </a:r>
            <a:endParaRPr lang="en-CA" dirty="0"/>
          </a:p>
          <a:p>
            <a:pPr>
              <a:defRPr sz="1800" b="0">
                <a:solidFill>
                  <a:srgbClr val="232323"/>
                </a:solidFill>
                <a:latin typeface="Aptos"/>
              </a:defRPr>
            </a:pPr>
            <a:r>
              <a:rPr dirty="0"/>
              <a:t>predict residential property prices using historical housing market data. The </a:t>
            </a:r>
            <a:endParaRPr lang="en-CA" dirty="0"/>
          </a:p>
          <a:p>
            <a:pPr>
              <a:defRPr sz="1800" b="0">
                <a:solidFill>
                  <a:srgbClr val="232323"/>
                </a:solidFill>
                <a:latin typeface="Aptos"/>
              </a:defRPr>
            </a:pPr>
            <a:r>
              <a:rPr dirty="0"/>
              <a:t>project is currently in development and is intended for internal analytical use. The </a:t>
            </a:r>
            <a:endParaRPr lang="en-CA"/>
          </a:p>
          <a:p>
            <a:pPr>
              <a:defRPr sz="1800" b="0">
                <a:solidFill>
                  <a:srgbClr val="232323"/>
                </a:solidFill>
                <a:latin typeface="Aptos"/>
              </a:defRPr>
            </a:pPr>
            <a:r>
              <a:t>system </a:t>
            </a:r>
            <a:r>
              <a:rPr dirty="0"/>
              <a:t>produces numeric price predictions rather than free-text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Project type: classical supervised machine learning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Lifecycle status: development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Output: numeric price prediction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Primary users: internal analysts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375F"/>
                </a:solidFill>
                <a:latin typeface="Aptos Display"/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77910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32323"/>
                </a:solidFill>
                <a:latin typeface="Aptos"/>
              </a:defRPr>
            </a:pPr>
            <a:r>
              <a:rPr dirty="0"/>
              <a:t>The team evaluates several model families and trains models from </a:t>
            </a:r>
            <a:endParaRPr lang="en-CA" dirty="0"/>
          </a:p>
          <a:p>
            <a:pPr>
              <a:defRPr sz="1800" b="0">
                <a:solidFill>
                  <a:srgbClr val="232323"/>
                </a:solidFill>
                <a:latin typeface="Aptos"/>
              </a:defRPr>
            </a:pPr>
            <a:r>
              <a:rPr dirty="0"/>
              <a:t>scratch using internal datasets.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Linear Regression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Random Forest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836985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32323"/>
                </a:solidFill>
                <a:latin typeface="Aptos"/>
              </a:defRPr>
            </a:pPr>
            <a:r>
              <a:rPr dirty="0"/>
              <a:t>The current implementation uses open-source Python libraries. The project </a:t>
            </a:r>
            <a:endParaRPr lang="en-CA" dirty="0"/>
          </a:p>
          <a:p>
            <a:pPr>
              <a:defRPr sz="1800" b="0">
                <a:solidFill>
                  <a:srgbClr val="232323"/>
                </a:solidFill>
                <a:latin typeface="Aptos"/>
              </a:defRPr>
            </a:pPr>
            <a:r>
              <a:rPr dirty="0"/>
              <a:t>does not use generative AI, large language models, AI agents, information retrieval, </a:t>
            </a:r>
            <a:endParaRPr lang="en-CA" dirty="0"/>
          </a:p>
          <a:p>
            <a:pPr>
              <a:defRPr sz="1800" b="0">
                <a:solidFill>
                  <a:srgbClr val="232323"/>
                </a:solidFill>
                <a:latin typeface="Aptos"/>
              </a:defRPr>
            </a:pPr>
            <a:r>
              <a:rPr dirty="0"/>
              <a:t>fine-tuning, third-party models, external pretrained models, or foundation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375F"/>
                </a:solidFill>
                <a:latin typeface="Aptos Display"/>
              </a:rPr>
              <a:t>Data and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37971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32323"/>
                </a:solidFill>
                <a:latin typeface="Aptos"/>
              </a:defRPr>
            </a:pPr>
            <a:r>
              <a:rPr dirty="0"/>
              <a:t>The project uses historical housing records. </a:t>
            </a:r>
            <a:endParaRPr lang="en-CA" dirty="0"/>
          </a:p>
          <a:p>
            <a:pPr>
              <a:defRPr sz="1800" b="0">
                <a:solidFill>
                  <a:srgbClr val="232323"/>
                </a:solidFill>
                <a:latin typeface="Aptos"/>
              </a:defRPr>
            </a:pPr>
            <a:r>
              <a:rPr dirty="0"/>
              <a:t>Some records may contain personal information linked to specific</a:t>
            </a:r>
            <a:endParaRPr lang="en-CA" dirty="0"/>
          </a:p>
          <a:p>
            <a:pPr>
              <a:defRPr sz="1800" b="0">
                <a:solidFill>
                  <a:srgbClr val="232323"/>
                </a:solidFill>
                <a:latin typeface="Aptos"/>
              </a:defRPr>
            </a:pPr>
            <a:r>
              <a:rPr dirty="0"/>
              <a:t> properties or owners. The project does not use sensitive attributes or </a:t>
            </a:r>
            <a:endParaRPr lang="en-CA" dirty="0"/>
          </a:p>
          <a:p>
            <a:pPr>
              <a:defRPr sz="1800" b="0">
                <a:solidFill>
                  <a:srgbClr val="232323"/>
                </a:solidFill>
                <a:latin typeface="Aptos"/>
              </a:defRPr>
            </a:pPr>
            <a:r>
              <a:rPr dirty="0"/>
              <a:t>confidential data, and no third-party data sources are currently included.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986" y="2468880"/>
            <a:ext cx="871501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323"/>
                </a:solidFill>
                <a:latin typeface="Aptos"/>
              </a:defRPr>
            </a:pPr>
            <a:r>
              <a:rPr dirty="0"/>
              <a:t>Model outputs are numeric, but the team is reviewing</a:t>
            </a:r>
            <a:endParaRPr lang="en-CA" dirty="0"/>
          </a:p>
          <a:p>
            <a:pPr>
              <a:defRPr sz="1800" b="1">
                <a:solidFill>
                  <a:srgbClr val="232323"/>
                </a:solidFill>
                <a:latin typeface="Aptos"/>
              </a:defRPr>
            </a:pPr>
            <a:r>
              <a:rPr dirty="0"/>
              <a:t> whether record-level predictions could be linked back to identifiable information.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501219"/>
              </p:ext>
            </p:extLst>
          </p:nvPr>
        </p:nvGraphicFramePr>
        <p:xfrm>
          <a:off x="685800" y="3429000"/>
          <a:ext cx="7885323" cy="2993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183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Current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 question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285">
                <a:tc>
                  <a:txBody>
                    <a:bodyPr/>
                    <a:lstStyle/>
                    <a:p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Internal housing records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Can records be linked to identifiable individuals?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183"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Numeric record-level predictions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Is output linkage possible?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183">
                <a:tc>
                  <a:txBody>
                    <a:bodyPr/>
                    <a:lstStyle/>
                    <a:p>
                      <a:r>
                        <a:t>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Personal information may exist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Which privacy controls apply?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375F"/>
                </a:solidFill>
                <a:latin typeface="Aptos Display"/>
              </a:rPr>
              <a:t>Deployment and Oversight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846" y="1439354"/>
            <a:ext cx="836562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32323"/>
                </a:solidFill>
                <a:latin typeface="Aptos"/>
              </a:defRPr>
            </a:pPr>
            <a:r>
              <a:rPr dirty="0"/>
              <a:t>The project is planned for internal operational deployment after testing and review. </a:t>
            </a:r>
            <a:endParaRPr lang="en-CA" dirty="0"/>
          </a:p>
          <a:p>
            <a:pPr>
              <a:defRPr sz="1800" b="0">
                <a:solidFill>
                  <a:srgbClr val="232323"/>
                </a:solidFill>
                <a:latin typeface="Aptos"/>
              </a:defRPr>
            </a:pPr>
            <a:r>
              <a:rPr dirty="0"/>
              <a:t>Human oversight is required before predictions are used.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0506" y="2872648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/>
              <a:t>The model may support analytical decisions.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/>
              <a:t>The model does not make fully automated decisions.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/>
              <a:t>The project does not interact directly with members of the public or external clients.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rPr dirty="0"/>
              <a:t>Monitoring and retraining procedures need to be defined before launch.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375F"/>
                </a:solidFill>
                <a:latin typeface="Aptos Display"/>
              </a:rPr>
              <a:t>Governance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323"/>
                </a:solidFill>
                <a:latin typeface="Aptos"/>
              </a:defRPr>
            </a:pPr>
            <a:r>
              <a:t>Current governance considerations include: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Documenting model limitations and intended use.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Assessing whether housing variables may act as proxies for protected characteristics.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Reviewing output linkage and re-identification risks.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Defining monitoring and retraining procedures before deployment.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204569"/>
              </p:ext>
            </p:extLst>
          </p:nvPr>
        </p:nvGraphicFramePr>
        <p:xfrm>
          <a:off x="773935" y="3429000"/>
          <a:ext cx="7885323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459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Current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 question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r>
                        <a:rPr dirty="0"/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Internal deployment is 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Which monitoring controls are required?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r>
                        <a:t>Decision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Predictions may inform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Which operational decisions, if any, rely on output?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303">
                <a:tc>
                  <a:txBody>
                    <a:bodyPr/>
                    <a:lstStyle/>
                    <a:p>
                      <a:r>
                        <a:t>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Are vendors or external services involved?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419</Words>
  <Application>Microsoft Macintosh PowerPoint</Application>
  <PresentationFormat>On-screen Show (4:3)</PresentationFormat>
  <Paragraphs>75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Housing Price Prediction Model</dc:title>
  <dc:subject>Proof-of-concept PPTX ingestion fixture</dc:subject>
  <dc:creator>Responsible AI Project Team</dc:creator>
  <cp:keywords/>
  <dc:description>Synthetic test presentation for the guideline agent ingestion pipeline.</dc:description>
  <cp:lastModifiedBy>Elie Joel Nkurunziza</cp:lastModifiedBy>
  <cp:revision>2</cp:revision>
  <dcterms:created xsi:type="dcterms:W3CDTF">2013-01-27T09:14:16Z</dcterms:created>
  <dcterms:modified xsi:type="dcterms:W3CDTF">2026-08-03T23:46:02Z</dcterms:modified>
  <cp:category/>
</cp:coreProperties>
</file>